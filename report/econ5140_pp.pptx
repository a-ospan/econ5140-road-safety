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4" r:id="rId1"/>
  </p:sldMasterIdLst>
  <p:sldIdLst>
    <p:sldId id="256" r:id="rId2"/>
    <p:sldId id="257" r:id="rId3"/>
    <p:sldId id="273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63"/>
    <p:restoredTop sz="94668"/>
  </p:normalViewPr>
  <p:slideViewPr>
    <p:cSldViewPr snapToGrid="0">
      <p:cViewPr varScale="1">
        <p:scale>
          <a:sx n="113" d="100"/>
          <a:sy n="113" d="100"/>
        </p:scale>
        <p:origin x="184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75ABF1-B6A2-7649-BD8A-56AE3ACBB8C6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US"/>
        </a:p>
      </dgm:t>
    </dgm:pt>
    <dgm:pt modelId="{1C0182DA-BF68-4940-81B6-EAA106DB19F8}">
      <dgm:prSet custT="1"/>
      <dgm:spPr/>
      <dgm:t>
        <a:bodyPr/>
        <a:lstStyle/>
        <a:p>
          <a:r>
            <a:rPr lang="en-US" sz="1600" b="0" i="0" baseline="0" dirty="0"/>
            <a:t>Traffic accidents create major medical, economic, and productivity costs. </a:t>
          </a:r>
          <a:endParaRPr lang="en-US" sz="1600" dirty="0"/>
        </a:p>
      </dgm:t>
    </dgm:pt>
    <dgm:pt modelId="{3C2F48B1-66A8-C147-9683-AB0FFC184C0A}" type="parTrans" cxnId="{3BCEDB0D-A566-E040-88F1-0B20296555A3}">
      <dgm:prSet/>
      <dgm:spPr/>
      <dgm:t>
        <a:bodyPr/>
        <a:lstStyle/>
        <a:p>
          <a:endParaRPr lang="en-US" sz="1600"/>
        </a:p>
      </dgm:t>
    </dgm:pt>
    <dgm:pt modelId="{058D0BB5-F2B0-F341-B41C-92CF9C4080DF}" type="sibTrans" cxnId="{3BCEDB0D-A566-E040-88F1-0B20296555A3}">
      <dgm:prSet/>
      <dgm:spPr/>
      <dgm:t>
        <a:bodyPr/>
        <a:lstStyle/>
        <a:p>
          <a:endParaRPr lang="en-US" sz="1600"/>
        </a:p>
      </dgm:t>
    </dgm:pt>
    <dgm:pt modelId="{272A1126-B353-F54D-9579-DBBFD856DF1D}">
      <dgm:prSet custT="1"/>
      <dgm:spPr/>
      <dgm:t>
        <a:bodyPr/>
        <a:lstStyle/>
        <a:p>
          <a:r>
            <a:rPr lang="en-US" sz="1600" b="0" i="0" baseline="0" dirty="0"/>
            <a:t>Reducing severity is as important as reducing crash frequency. </a:t>
          </a:r>
          <a:endParaRPr lang="en-US" sz="1600" dirty="0"/>
        </a:p>
      </dgm:t>
    </dgm:pt>
    <dgm:pt modelId="{8BD2BA4A-E636-5644-8CEE-CCE360FE6F1D}" type="parTrans" cxnId="{19FFA1FF-D46E-F44C-BA39-E056B58935B6}">
      <dgm:prSet/>
      <dgm:spPr/>
      <dgm:t>
        <a:bodyPr/>
        <a:lstStyle/>
        <a:p>
          <a:endParaRPr lang="en-US" sz="1600"/>
        </a:p>
      </dgm:t>
    </dgm:pt>
    <dgm:pt modelId="{58AF38E7-FDDA-574F-9156-DC0AF9524609}" type="sibTrans" cxnId="{19FFA1FF-D46E-F44C-BA39-E056B58935B6}">
      <dgm:prSet/>
      <dgm:spPr/>
      <dgm:t>
        <a:bodyPr/>
        <a:lstStyle/>
        <a:p>
          <a:endParaRPr lang="en-US" sz="1600"/>
        </a:p>
      </dgm:t>
    </dgm:pt>
    <dgm:pt modelId="{8043CFCA-8AF7-2949-913D-72FF8C0EF537}">
      <dgm:prSet custT="1"/>
      <dgm:spPr/>
      <dgm:t>
        <a:bodyPr/>
        <a:lstStyle/>
        <a:p>
          <a:r>
            <a:rPr lang="en-US" sz="1600" b="0" i="0" baseline="0"/>
            <a:t>Weather and road design may significantly affect outcomes. </a:t>
          </a:r>
          <a:endParaRPr lang="en-US" sz="1600"/>
        </a:p>
      </dgm:t>
    </dgm:pt>
    <dgm:pt modelId="{E40E9D9A-912F-C94D-B694-23A52C563410}" type="parTrans" cxnId="{2A1D677A-C8B9-EE42-8B80-7AAF4E6A7340}">
      <dgm:prSet/>
      <dgm:spPr/>
      <dgm:t>
        <a:bodyPr/>
        <a:lstStyle/>
        <a:p>
          <a:endParaRPr lang="en-US" sz="1600"/>
        </a:p>
      </dgm:t>
    </dgm:pt>
    <dgm:pt modelId="{88052A41-E05D-BA48-8720-D4EC7448BEB7}" type="sibTrans" cxnId="{2A1D677A-C8B9-EE42-8B80-7AAF4E6A7340}">
      <dgm:prSet/>
      <dgm:spPr/>
      <dgm:t>
        <a:bodyPr/>
        <a:lstStyle/>
        <a:p>
          <a:endParaRPr lang="en-US" sz="1600"/>
        </a:p>
      </dgm:t>
    </dgm:pt>
    <dgm:pt modelId="{DCD6DECD-5458-0A42-911B-2361453A6F61}">
      <dgm:prSet custT="1"/>
      <dgm:spPr/>
      <dgm:t>
        <a:bodyPr/>
        <a:lstStyle/>
        <a:p>
          <a:r>
            <a:rPr lang="en-US" sz="1600" b="0" i="0" baseline="0"/>
            <a:t>These findings can inform policy, infrastructure, and emergency response.</a:t>
          </a:r>
          <a:endParaRPr lang="en-US" sz="1600"/>
        </a:p>
      </dgm:t>
    </dgm:pt>
    <dgm:pt modelId="{05DB65CC-039F-CE47-B4EC-9571BEF4A63C}" type="parTrans" cxnId="{2CFCD8FE-D745-404C-BB9A-06C5BF62302D}">
      <dgm:prSet/>
      <dgm:spPr/>
      <dgm:t>
        <a:bodyPr/>
        <a:lstStyle/>
        <a:p>
          <a:endParaRPr lang="en-US" sz="1600"/>
        </a:p>
      </dgm:t>
    </dgm:pt>
    <dgm:pt modelId="{9F1FB7DC-47FC-8943-B81A-B2DE7F3369BA}" type="sibTrans" cxnId="{2CFCD8FE-D745-404C-BB9A-06C5BF62302D}">
      <dgm:prSet/>
      <dgm:spPr/>
      <dgm:t>
        <a:bodyPr/>
        <a:lstStyle/>
        <a:p>
          <a:endParaRPr lang="en-US" sz="1600"/>
        </a:p>
      </dgm:t>
    </dgm:pt>
    <dgm:pt modelId="{C28C91EF-0062-EE48-8768-B3F69FB86191}" type="pres">
      <dgm:prSet presAssocID="{E275ABF1-B6A2-7649-BD8A-56AE3ACBB8C6}" presName="linear" presStyleCnt="0">
        <dgm:presLayoutVars>
          <dgm:animLvl val="lvl"/>
          <dgm:resizeHandles val="exact"/>
        </dgm:presLayoutVars>
      </dgm:prSet>
      <dgm:spPr/>
    </dgm:pt>
    <dgm:pt modelId="{DFFC9C92-CE90-274A-870B-3843B4082A0E}" type="pres">
      <dgm:prSet presAssocID="{1C0182DA-BF68-4940-81B6-EAA106DB19F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ECFDB9B-CB7B-314E-A745-288AE2BBB115}" type="pres">
      <dgm:prSet presAssocID="{058D0BB5-F2B0-F341-B41C-92CF9C4080DF}" presName="spacer" presStyleCnt="0"/>
      <dgm:spPr/>
    </dgm:pt>
    <dgm:pt modelId="{B1FA3A76-6BFB-6C4E-953E-517E5924C113}" type="pres">
      <dgm:prSet presAssocID="{272A1126-B353-F54D-9579-DBBFD856DF1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B3964C0-66B6-094F-990F-F54E78A9A581}" type="pres">
      <dgm:prSet presAssocID="{58AF38E7-FDDA-574F-9156-DC0AF9524609}" presName="spacer" presStyleCnt="0"/>
      <dgm:spPr/>
    </dgm:pt>
    <dgm:pt modelId="{EC6328B9-60F8-DE40-80B7-34AD5BE61B45}" type="pres">
      <dgm:prSet presAssocID="{8043CFCA-8AF7-2949-913D-72FF8C0EF53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C25897C-C629-9F4A-9DAB-97FB9F8BB505}" type="pres">
      <dgm:prSet presAssocID="{88052A41-E05D-BA48-8720-D4EC7448BEB7}" presName="spacer" presStyleCnt="0"/>
      <dgm:spPr/>
    </dgm:pt>
    <dgm:pt modelId="{A3E74AC4-EDBC-5E41-90F8-E01D9AD51736}" type="pres">
      <dgm:prSet presAssocID="{DCD6DECD-5458-0A42-911B-2361453A6F6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BCEDB0D-A566-E040-88F1-0B20296555A3}" srcId="{E275ABF1-B6A2-7649-BD8A-56AE3ACBB8C6}" destId="{1C0182DA-BF68-4940-81B6-EAA106DB19F8}" srcOrd="0" destOrd="0" parTransId="{3C2F48B1-66A8-C147-9683-AB0FFC184C0A}" sibTransId="{058D0BB5-F2B0-F341-B41C-92CF9C4080DF}"/>
    <dgm:cxn modelId="{67FA201D-2DBB-8F43-8D6F-CC1F597BB911}" type="presOf" srcId="{272A1126-B353-F54D-9579-DBBFD856DF1D}" destId="{B1FA3A76-6BFB-6C4E-953E-517E5924C113}" srcOrd="0" destOrd="0" presId="urn:microsoft.com/office/officeart/2005/8/layout/vList2"/>
    <dgm:cxn modelId="{67EB462F-987E-8A43-BFDC-542D12DA6EB1}" type="presOf" srcId="{E275ABF1-B6A2-7649-BD8A-56AE3ACBB8C6}" destId="{C28C91EF-0062-EE48-8768-B3F69FB86191}" srcOrd="0" destOrd="0" presId="urn:microsoft.com/office/officeart/2005/8/layout/vList2"/>
    <dgm:cxn modelId="{FF43AB65-1176-C04D-B2C9-1304E735E65B}" type="presOf" srcId="{1C0182DA-BF68-4940-81B6-EAA106DB19F8}" destId="{DFFC9C92-CE90-274A-870B-3843B4082A0E}" srcOrd="0" destOrd="0" presId="urn:microsoft.com/office/officeart/2005/8/layout/vList2"/>
    <dgm:cxn modelId="{2A1D677A-C8B9-EE42-8B80-7AAF4E6A7340}" srcId="{E275ABF1-B6A2-7649-BD8A-56AE3ACBB8C6}" destId="{8043CFCA-8AF7-2949-913D-72FF8C0EF537}" srcOrd="2" destOrd="0" parTransId="{E40E9D9A-912F-C94D-B694-23A52C563410}" sibTransId="{88052A41-E05D-BA48-8720-D4EC7448BEB7}"/>
    <dgm:cxn modelId="{5AFCB998-5621-3F4F-B1EC-2B4861E69462}" type="presOf" srcId="{DCD6DECD-5458-0A42-911B-2361453A6F61}" destId="{A3E74AC4-EDBC-5E41-90F8-E01D9AD51736}" srcOrd="0" destOrd="0" presId="urn:microsoft.com/office/officeart/2005/8/layout/vList2"/>
    <dgm:cxn modelId="{079D05E4-64DB-974E-9EDE-5125B4937795}" type="presOf" srcId="{8043CFCA-8AF7-2949-913D-72FF8C0EF537}" destId="{EC6328B9-60F8-DE40-80B7-34AD5BE61B45}" srcOrd="0" destOrd="0" presId="urn:microsoft.com/office/officeart/2005/8/layout/vList2"/>
    <dgm:cxn modelId="{2CFCD8FE-D745-404C-BB9A-06C5BF62302D}" srcId="{E275ABF1-B6A2-7649-BD8A-56AE3ACBB8C6}" destId="{DCD6DECD-5458-0A42-911B-2361453A6F61}" srcOrd="3" destOrd="0" parTransId="{05DB65CC-039F-CE47-B4EC-9571BEF4A63C}" sibTransId="{9F1FB7DC-47FC-8943-B81A-B2DE7F3369BA}"/>
    <dgm:cxn modelId="{19FFA1FF-D46E-F44C-BA39-E056B58935B6}" srcId="{E275ABF1-B6A2-7649-BD8A-56AE3ACBB8C6}" destId="{272A1126-B353-F54D-9579-DBBFD856DF1D}" srcOrd="1" destOrd="0" parTransId="{8BD2BA4A-E636-5644-8CEE-CCE360FE6F1D}" sibTransId="{58AF38E7-FDDA-574F-9156-DC0AF9524609}"/>
    <dgm:cxn modelId="{83CBD2DD-856C-2F47-A7F0-5297A32AAA42}" type="presParOf" srcId="{C28C91EF-0062-EE48-8768-B3F69FB86191}" destId="{DFFC9C92-CE90-274A-870B-3843B4082A0E}" srcOrd="0" destOrd="0" presId="urn:microsoft.com/office/officeart/2005/8/layout/vList2"/>
    <dgm:cxn modelId="{1D84B321-C81A-7F45-A171-6292DB263303}" type="presParOf" srcId="{C28C91EF-0062-EE48-8768-B3F69FB86191}" destId="{1ECFDB9B-CB7B-314E-A745-288AE2BBB115}" srcOrd="1" destOrd="0" presId="urn:microsoft.com/office/officeart/2005/8/layout/vList2"/>
    <dgm:cxn modelId="{92EA4A5B-FAA2-D842-A31A-1C3F7C36CD20}" type="presParOf" srcId="{C28C91EF-0062-EE48-8768-B3F69FB86191}" destId="{B1FA3A76-6BFB-6C4E-953E-517E5924C113}" srcOrd="2" destOrd="0" presId="urn:microsoft.com/office/officeart/2005/8/layout/vList2"/>
    <dgm:cxn modelId="{79FFF09C-E9FF-2043-A6C6-DF27C5C2AA6B}" type="presParOf" srcId="{C28C91EF-0062-EE48-8768-B3F69FB86191}" destId="{8B3964C0-66B6-094F-990F-F54E78A9A581}" srcOrd="3" destOrd="0" presId="urn:microsoft.com/office/officeart/2005/8/layout/vList2"/>
    <dgm:cxn modelId="{91C5653D-7EAE-AB4F-A42B-C2123EB6DA89}" type="presParOf" srcId="{C28C91EF-0062-EE48-8768-B3F69FB86191}" destId="{EC6328B9-60F8-DE40-80B7-34AD5BE61B45}" srcOrd="4" destOrd="0" presId="urn:microsoft.com/office/officeart/2005/8/layout/vList2"/>
    <dgm:cxn modelId="{8173D6AB-10C4-F940-9464-891B74B8C09D}" type="presParOf" srcId="{C28C91EF-0062-EE48-8768-B3F69FB86191}" destId="{BC25897C-C629-9F4A-9DAB-97FB9F8BB505}" srcOrd="5" destOrd="0" presId="urn:microsoft.com/office/officeart/2005/8/layout/vList2"/>
    <dgm:cxn modelId="{9C59C56D-DD66-5249-A1FC-63E5657DCBEF}" type="presParOf" srcId="{C28C91EF-0062-EE48-8768-B3F69FB86191}" destId="{A3E74AC4-EDBC-5E41-90F8-E01D9AD5173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570E37-DB13-3B4B-ACEE-9CC12A2DBC6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FC0E8DB-9362-A84B-93BF-007B60A327A6}">
      <dgm:prSet custT="1"/>
      <dgm:spPr/>
      <dgm:t>
        <a:bodyPr/>
        <a:lstStyle/>
        <a:p>
          <a:r>
            <a:rPr lang="en-US" sz="1600" b="1"/>
            <a:t>Outcomes</a:t>
          </a:r>
          <a:endParaRPr lang="en-US" sz="1600"/>
        </a:p>
      </dgm:t>
    </dgm:pt>
    <dgm:pt modelId="{0C83B0F7-64A0-9C4C-A8C2-0DD11A98AFF1}" type="parTrans" cxnId="{BB6C9F92-FC95-3542-8EF2-54525ACAF663}">
      <dgm:prSet/>
      <dgm:spPr/>
      <dgm:t>
        <a:bodyPr/>
        <a:lstStyle/>
        <a:p>
          <a:endParaRPr lang="en-US" sz="1600"/>
        </a:p>
      </dgm:t>
    </dgm:pt>
    <dgm:pt modelId="{E86872BE-CBA6-A84A-AD99-75B40FD83806}" type="sibTrans" cxnId="{BB6C9F92-FC95-3542-8EF2-54525ACAF663}">
      <dgm:prSet/>
      <dgm:spPr/>
      <dgm:t>
        <a:bodyPr/>
        <a:lstStyle/>
        <a:p>
          <a:endParaRPr lang="en-US" sz="1600"/>
        </a:p>
      </dgm:t>
    </dgm:pt>
    <dgm:pt modelId="{0994F5A4-998F-8F48-BD8B-FD113871E1EE}">
      <dgm:prSet custT="1"/>
      <dgm:spPr/>
      <dgm:t>
        <a:bodyPr/>
        <a:lstStyle/>
        <a:p>
          <a:r>
            <a:rPr lang="en-US" sz="1600" dirty="0"/>
            <a:t>Severity (1–4) </a:t>
          </a:r>
        </a:p>
      </dgm:t>
    </dgm:pt>
    <dgm:pt modelId="{29704EA0-AF41-924A-A6CD-352F456505C9}" type="parTrans" cxnId="{76D60DF8-49EB-1240-ACD6-656BB9B96ADA}">
      <dgm:prSet/>
      <dgm:spPr/>
      <dgm:t>
        <a:bodyPr/>
        <a:lstStyle/>
        <a:p>
          <a:endParaRPr lang="en-US" sz="1600"/>
        </a:p>
      </dgm:t>
    </dgm:pt>
    <dgm:pt modelId="{E78F848B-8E22-D14C-932B-CEBFA08A57A6}" type="sibTrans" cxnId="{76D60DF8-49EB-1240-ACD6-656BB9B96ADA}">
      <dgm:prSet/>
      <dgm:spPr/>
      <dgm:t>
        <a:bodyPr/>
        <a:lstStyle/>
        <a:p>
          <a:endParaRPr lang="en-US" sz="1600"/>
        </a:p>
      </dgm:t>
    </dgm:pt>
    <dgm:pt modelId="{770DC0D5-ECE7-264A-B062-8CA05DB5BBB1}">
      <dgm:prSet custT="1"/>
      <dgm:spPr/>
      <dgm:t>
        <a:bodyPr/>
        <a:lstStyle/>
        <a:p>
          <a:r>
            <a:rPr lang="en-US" sz="1600"/>
            <a:t>HighSeverity = 1 if Severity ≥ 3 </a:t>
          </a:r>
        </a:p>
      </dgm:t>
    </dgm:pt>
    <dgm:pt modelId="{A0BBC502-A345-EB4E-8C43-8DEA0E3209A9}" type="parTrans" cxnId="{B5700B53-6C9D-2549-8D9E-B14EA153D1FE}">
      <dgm:prSet/>
      <dgm:spPr/>
      <dgm:t>
        <a:bodyPr/>
        <a:lstStyle/>
        <a:p>
          <a:endParaRPr lang="en-US" sz="1600"/>
        </a:p>
      </dgm:t>
    </dgm:pt>
    <dgm:pt modelId="{3E883F6F-81B4-8241-9D84-A557F4C53C98}" type="sibTrans" cxnId="{B5700B53-6C9D-2549-8D9E-B14EA153D1FE}">
      <dgm:prSet/>
      <dgm:spPr/>
      <dgm:t>
        <a:bodyPr/>
        <a:lstStyle/>
        <a:p>
          <a:endParaRPr lang="en-US" sz="1600"/>
        </a:p>
      </dgm:t>
    </dgm:pt>
    <dgm:pt modelId="{BD8A6C4D-CA3C-934F-B724-0475B917F902}">
      <dgm:prSet custT="1"/>
      <dgm:spPr/>
      <dgm:t>
        <a:bodyPr/>
        <a:lstStyle/>
        <a:p>
          <a:r>
            <a:rPr lang="en-US" sz="1600"/>
            <a:t>Severe4 = 1 if Severity = 4 </a:t>
          </a:r>
        </a:p>
      </dgm:t>
    </dgm:pt>
    <dgm:pt modelId="{90585A02-66A7-8642-8061-F3B6F6E8837C}" type="parTrans" cxnId="{1D2D8734-A5EB-5D44-8686-FB764382DFE5}">
      <dgm:prSet/>
      <dgm:spPr/>
      <dgm:t>
        <a:bodyPr/>
        <a:lstStyle/>
        <a:p>
          <a:endParaRPr lang="en-US" sz="1600"/>
        </a:p>
      </dgm:t>
    </dgm:pt>
    <dgm:pt modelId="{100BEF47-13A9-3744-A0AA-355B3CE23028}" type="sibTrans" cxnId="{1D2D8734-A5EB-5D44-8686-FB764382DFE5}">
      <dgm:prSet/>
      <dgm:spPr/>
      <dgm:t>
        <a:bodyPr/>
        <a:lstStyle/>
        <a:p>
          <a:endParaRPr lang="en-US" sz="1600"/>
        </a:p>
      </dgm:t>
    </dgm:pt>
    <dgm:pt modelId="{FA577319-BF35-0C46-82C4-FAD462402D9F}" type="pres">
      <dgm:prSet presAssocID="{FD570E37-DB13-3B4B-ACEE-9CC12A2DBC67}" presName="vert0" presStyleCnt="0">
        <dgm:presLayoutVars>
          <dgm:dir/>
          <dgm:animOne val="branch"/>
          <dgm:animLvl val="lvl"/>
        </dgm:presLayoutVars>
      </dgm:prSet>
      <dgm:spPr/>
    </dgm:pt>
    <dgm:pt modelId="{0D0334A9-EA0A-3248-8881-60209B5D7FFA}" type="pres">
      <dgm:prSet presAssocID="{3FC0E8DB-9362-A84B-93BF-007B60A327A6}" presName="thickLine" presStyleLbl="alignNode1" presStyleIdx="0" presStyleCnt="4"/>
      <dgm:spPr/>
    </dgm:pt>
    <dgm:pt modelId="{F4D1C07A-E5CE-5D4D-BC93-885BD877D4CE}" type="pres">
      <dgm:prSet presAssocID="{3FC0E8DB-9362-A84B-93BF-007B60A327A6}" presName="horz1" presStyleCnt="0"/>
      <dgm:spPr/>
    </dgm:pt>
    <dgm:pt modelId="{411E600F-FA20-CB41-9CCA-FCF2CC237300}" type="pres">
      <dgm:prSet presAssocID="{3FC0E8DB-9362-A84B-93BF-007B60A327A6}" presName="tx1" presStyleLbl="revTx" presStyleIdx="0" presStyleCnt="4"/>
      <dgm:spPr/>
    </dgm:pt>
    <dgm:pt modelId="{639EEC7F-31A0-3249-9A23-EFA845494ECA}" type="pres">
      <dgm:prSet presAssocID="{3FC0E8DB-9362-A84B-93BF-007B60A327A6}" presName="vert1" presStyleCnt="0"/>
      <dgm:spPr/>
    </dgm:pt>
    <dgm:pt modelId="{8CE1E853-62DF-A741-AF17-68E58252D044}" type="pres">
      <dgm:prSet presAssocID="{0994F5A4-998F-8F48-BD8B-FD113871E1EE}" presName="thickLine" presStyleLbl="alignNode1" presStyleIdx="1" presStyleCnt="4"/>
      <dgm:spPr/>
    </dgm:pt>
    <dgm:pt modelId="{36DF5CFA-D039-244D-A8C1-AFD42D758FC7}" type="pres">
      <dgm:prSet presAssocID="{0994F5A4-998F-8F48-BD8B-FD113871E1EE}" presName="horz1" presStyleCnt="0"/>
      <dgm:spPr/>
    </dgm:pt>
    <dgm:pt modelId="{241E6E43-6BC8-DC4F-80A8-2EC6E536592C}" type="pres">
      <dgm:prSet presAssocID="{0994F5A4-998F-8F48-BD8B-FD113871E1EE}" presName="tx1" presStyleLbl="revTx" presStyleIdx="1" presStyleCnt="4"/>
      <dgm:spPr/>
    </dgm:pt>
    <dgm:pt modelId="{D869590C-1629-7548-AE9B-DAEF4962689B}" type="pres">
      <dgm:prSet presAssocID="{0994F5A4-998F-8F48-BD8B-FD113871E1EE}" presName="vert1" presStyleCnt="0"/>
      <dgm:spPr/>
    </dgm:pt>
    <dgm:pt modelId="{FA115207-E1AF-B04F-9AA2-3ED45CD0D986}" type="pres">
      <dgm:prSet presAssocID="{770DC0D5-ECE7-264A-B062-8CA05DB5BBB1}" presName="thickLine" presStyleLbl="alignNode1" presStyleIdx="2" presStyleCnt="4"/>
      <dgm:spPr/>
    </dgm:pt>
    <dgm:pt modelId="{49D6C0C2-FC9F-E047-9C7B-3F3DBB5CD83F}" type="pres">
      <dgm:prSet presAssocID="{770DC0D5-ECE7-264A-B062-8CA05DB5BBB1}" presName="horz1" presStyleCnt="0"/>
      <dgm:spPr/>
    </dgm:pt>
    <dgm:pt modelId="{9F92894D-0A91-0741-8FBD-50D556571798}" type="pres">
      <dgm:prSet presAssocID="{770DC0D5-ECE7-264A-B062-8CA05DB5BBB1}" presName="tx1" presStyleLbl="revTx" presStyleIdx="2" presStyleCnt="4"/>
      <dgm:spPr/>
    </dgm:pt>
    <dgm:pt modelId="{223BB179-E75A-DD47-AB9F-B76582A63594}" type="pres">
      <dgm:prSet presAssocID="{770DC0D5-ECE7-264A-B062-8CA05DB5BBB1}" presName="vert1" presStyleCnt="0"/>
      <dgm:spPr/>
    </dgm:pt>
    <dgm:pt modelId="{32340226-1129-6C41-A995-540E045E3898}" type="pres">
      <dgm:prSet presAssocID="{BD8A6C4D-CA3C-934F-B724-0475B917F902}" presName="thickLine" presStyleLbl="alignNode1" presStyleIdx="3" presStyleCnt="4"/>
      <dgm:spPr/>
    </dgm:pt>
    <dgm:pt modelId="{1BD89EB5-C837-FD4A-8B77-2E88ACE68087}" type="pres">
      <dgm:prSet presAssocID="{BD8A6C4D-CA3C-934F-B724-0475B917F902}" presName="horz1" presStyleCnt="0"/>
      <dgm:spPr/>
    </dgm:pt>
    <dgm:pt modelId="{3184EA77-1156-6D49-9584-27BE31C105F2}" type="pres">
      <dgm:prSet presAssocID="{BD8A6C4D-CA3C-934F-B724-0475B917F902}" presName="tx1" presStyleLbl="revTx" presStyleIdx="3" presStyleCnt="4"/>
      <dgm:spPr/>
    </dgm:pt>
    <dgm:pt modelId="{99D4B02F-FA57-C349-8E77-2C4BEAA887EE}" type="pres">
      <dgm:prSet presAssocID="{BD8A6C4D-CA3C-934F-B724-0475B917F902}" presName="vert1" presStyleCnt="0"/>
      <dgm:spPr/>
    </dgm:pt>
  </dgm:ptLst>
  <dgm:cxnLst>
    <dgm:cxn modelId="{F05D830D-8FA1-9E4F-89BF-DBF355DDD7AE}" type="presOf" srcId="{BD8A6C4D-CA3C-934F-B724-0475B917F902}" destId="{3184EA77-1156-6D49-9584-27BE31C105F2}" srcOrd="0" destOrd="0" presId="urn:microsoft.com/office/officeart/2008/layout/LinedList"/>
    <dgm:cxn modelId="{1D2D8734-A5EB-5D44-8686-FB764382DFE5}" srcId="{FD570E37-DB13-3B4B-ACEE-9CC12A2DBC67}" destId="{BD8A6C4D-CA3C-934F-B724-0475B917F902}" srcOrd="3" destOrd="0" parTransId="{90585A02-66A7-8642-8061-F3B6F6E8837C}" sibTransId="{100BEF47-13A9-3744-A0AA-355B3CE23028}"/>
    <dgm:cxn modelId="{4D164038-0E4D-CE41-845C-01D4E1F9F21D}" type="presOf" srcId="{FD570E37-DB13-3B4B-ACEE-9CC12A2DBC67}" destId="{FA577319-BF35-0C46-82C4-FAD462402D9F}" srcOrd="0" destOrd="0" presId="urn:microsoft.com/office/officeart/2008/layout/LinedList"/>
    <dgm:cxn modelId="{B5700B53-6C9D-2549-8D9E-B14EA153D1FE}" srcId="{FD570E37-DB13-3B4B-ACEE-9CC12A2DBC67}" destId="{770DC0D5-ECE7-264A-B062-8CA05DB5BBB1}" srcOrd="2" destOrd="0" parTransId="{A0BBC502-A345-EB4E-8C43-8DEA0E3209A9}" sibTransId="{3E883F6F-81B4-8241-9D84-A557F4C53C98}"/>
    <dgm:cxn modelId="{BB6C9F92-FC95-3542-8EF2-54525ACAF663}" srcId="{FD570E37-DB13-3B4B-ACEE-9CC12A2DBC67}" destId="{3FC0E8DB-9362-A84B-93BF-007B60A327A6}" srcOrd="0" destOrd="0" parTransId="{0C83B0F7-64A0-9C4C-A8C2-0DD11A98AFF1}" sibTransId="{E86872BE-CBA6-A84A-AD99-75B40FD83806}"/>
    <dgm:cxn modelId="{2F872BEB-6EEB-AB41-9C70-B46C18AF0CD4}" type="presOf" srcId="{0994F5A4-998F-8F48-BD8B-FD113871E1EE}" destId="{241E6E43-6BC8-DC4F-80A8-2EC6E536592C}" srcOrd="0" destOrd="0" presId="urn:microsoft.com/office/officeart/2008/layout/LinedList"/>
    <dgm:cxn modelId="{F7F366F3-28E7-E64E-B926-5A9D2D6B7BAB}" type="presOf" srcId="{770DC0D5-ECE7-264A-B062-8CA05DB5BBB1}" destId="{9F92894D-0A91-0741-8FBD-50D556571798}" srcOrd="0" destOrd="0" presId="urn:microsoft.com/office/officeart/2008/layout/LinedList"/>
    <dgm:cxn modelId="{76D60DF8-49EB-1240-ACD6-656BB9B96ADA}" srcId="{FD570E37-DB13-3B4B-ACEE-9CC12A2DBC67}" destId="{0994F5A4-998F-8F48-BD8B-FD113871E1EE}" srcOrd="1" destOrd="0" parTransId="{29704EA0-AF41-924A-A6CD-352F456505C9}" sibTransId="{E78F848B-8E22-D14C-932B-CEBFA08A57A6}"/>
    <dgm:cxn modelId="{30ACA3F9-F02F-CB4F-BE44-3EFC1EC158B0}" type="presOf" srcId="{3FC0E8DB-9362-A84B-93BF-007B60A327A6}" destId="{411E600F-FA20-CB41-9CCA-FCF2CC237300}" srcOrd="0" destOrd="0" presId="urn:microsoft.com/office/officeart/2008/layout/LinedList"/>
    <dgm:cxn modelId="{645057E0-DDF4-8A4F-BC77-9ADF4FD22F1A}" type="presParOf" srcId="{FA577319-BF35-0C46-82C4-FAD462402D9F}" destId="{0D0334A9-EA0A-3248-8881-60209B5D7FFA}" srcOrd="0" destOrd="0" presId="urn:microsoft.com/office/officeart/2008/layout/LinedList"/>
    <dgm:cxn modelId="{F8C4954A-1AD9-1845-A87C-D1CAC89D4F45}" type="presParOf" srcId="{FA577319-BF35-0C46-82C4-FAD462402D9F}" destId="{F4D1C07A-E5CE-5D4D-BC93-885BD877D4CE}" srcOrd="1" destOrd="0" presId="urn:microsoft.com/office/officeart/2008/layout/LinedList"/>
    <dgm:cxn modelId="{BFAFA4F2-ACF6-8344-A866-A5C48FEDAEEE}" type="presParOf" srcId="{F4D1C07A-E5CE-5D4D-BC93-885BD877D4CE}" destId="{411E600F-FA20-CB41-9CCA-FCF2CC237300}" srcOrd="0" destOrd="0" presId="urn:microsoft.com/office/officeart/2008/layout/LinedList"/>
    <dgm:cxn modelId="{3F40309C-024F-784D-96AC-01342A3BE0D0}" type="presParOf" srcId="{F4D1C07A-E5CE-5D4D-BC93-885BD877D4CE}" destId="{639EEC7F-31A0-3249-9A23-EFA845494ECA}" srcOrd="1" destOrd="0" presId="urn:microsoft.com/office/officeart/2008/layout/LinedList"/>
    <dgm:cxn modelId="{47BF1B87-F397-9648-AB5A-5AE26418FB50}" type="presParOf" srcId="{FA577319-BF35-0C46-82C4-FAD462402D9F}" destId="{8CE1E853-62DF-A741-AF17-68E58252D044}" srcOrd="2" destOrd="0" presId="urn:microsoft.com/office/officeart/2008/layout/LinedList"/>
    <dgm:cxn modelId="{38B0C6C2-A737-314F-B7B9-3734580E821B}" type="presParOf" srcId="{FA577319-BF35-0C46-82C4-FAD462402D9F}" destId="{36DF5CFA-D039-244D-A8C1-AFD42D758FC7}" srcOrd="3" destOrd="0" presId="urn:microsoft.com/office/officeart/2008/layout/LinedList"/>
    <dgm:cxn modelId="{39B71C73-AF19-3142-AAF7-772744E0ECB5}" type="presParOf" srcId="{36DF5CFA-D039-244D-A8C1-AFD42D758FC7}" destId="{241E6E43-6BC8-DC4F-80A8-2EC6E536592C}" srcOrd="0" destOrd="0" presId="urn:microsoft.com/office/officeart/2008/layout/LinedList"/>
    <dgm:cxn modelId="{8716EA71-4CD3-874E-87EA-99988C6C403A}" type="presParOf" srcId="{36DF5CFA-D039-244D-A8C1-AFD42D758FC7}" destId="{D869590C-1629-7548-AE9B-DAEF4962689B}" srcOrd="1" destOrd="0" presId="urn:microsoft.com/office/officeart/2008/layout/LinedList"/>
    <dgm:cxn modelId="{A479FA4F-E16A-1845-AF1E-37160E2C253E}" type="presParOf" srcId="{FA577319-BF35-0C46-82C4-FAD462402D9F}" destId="{FA115207-E1AF-B04F-9AA2-3ED45CD0D986}" srcOrd="4" destOrd="0" presId="urn:microsoft.com/office/officeart/2008/layout/LinedList"/>
    <dgm:cxn modelId="{0638FC5B-C876-D34F-8F92-C736CB89D3E8}" type="presParOf" srcId="{FA577319-BF35-0C46-82C4-FAD462402D9F}" destId="{49D6C0C2-FC9F-E047-9C7B-3F3DBB5CD83F}" srcOrd="5" destOrd="0" presId="urn:microsoft.com/office/officeart/2008/layout/LinedList"/>
    <dgm:cxn modelId="{065FBEAF-E41D-D14D-9DCB-D1DF72C956CE}" type="presParOf" srcId="{49D6C0C2-FC9F-E047-9C7B-3F3DBB5CD83F}" destId="{9F92894D-0A91-0741-8FBD-50D556571798}" srcOrd="0" destOrd="0" presId="urn:microsoft.com/office/officeart/2008/layout/LinedList"/>
    <dgm:cxn modelId="{6A325C43-207B-2C41-9637-4013B9FFC606}" type="presParOf" srcId="{49D6C0C2-FC9F-E047-9C7B-3F3DBB5CD83F}" destId="{223BB179-E75A-DD47-AB9F-B76582A63594}" srcOrd="1" destOrd="0" presId="urn:microsoft.com/office/officeart/2008/layout/LinedList"/>
    <dgm:cxn modelId="{4704A25E-F18E-9349-BD96-10113A2EE15E}" type="presParOf" srcId="{FA577319-BF35-0C46-82C4-FAD462402D9F}" destId="{32340226-1129-6C41-A995-540E045E3898}" srcOrd="6" destOrd="0" presId="urn:microsoft.com/office/officeart/2008/layout/LinedList"/>
    <dgm:cxn modelId="{2304ADD0-FDAB-9948-9B0C-0887BCE8F0A7}" type="presParOf" srcId="{FA577319-BF35-0C46-82C4-FAD462402D9F}" destId="{1BD89EB5-C837-FD4A-8B77-2E88ACE68087}" srcOrd="7" destOrd="0" presId="urn:microsoft.com/office/officeart/2008/layout/LinedList"/>
    <dgm:cxn modelId="{55B496EC-3970-ED43-8BDE-098BB06FDE62}" type="presParOf" srcId="{1BD89EB5-C837-FD4A-8B77-2E88ACE68087}" destId="{3184EA77-1156-6D49-9584-27BE31C105F2}" srcOrd="0" destOrd="0" presId="urn:microsoft.com/office/officeart/2008/layout/LinedList"/>
    <dgm:cxn modelId="{1760FCF6-B853-1646-80CE-85E10E32DE42}" type="presParOf" srcId="{1BD89EB5-C837-FD4A-8B77-2E88ACE68087}" destId="{99D4B02F-FA57-C349-8E77-2C4BEAA887E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FC9C92-CE90-274A-870B-3843B4082A0E}">
      <dsp:nvSpPr>
        <dsp:cNvPr id="0" name=""/>
        <dsp:cNvSpPr/>
      </dsp:nvSpPr>
      <dsp:spPr>
        <a:xfrm>
          <a:off x="0" y="26641"/>
          <a:ext cx="7988217" cy="5054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/>
            <a:t>Traffic accidents create major medical, economic, and productivity costs. </a:t>
          </a:r>
          <a:endParaRPr lang="en-US" sz="1600" kern="1200" dirty="0"/>
        </a:p>
      </dsp:txBody>
      <dsp:txXfrm>
        <a:off x="24674" y="51315"/>
        <a:ext cx="7938869" cy="456092"/>
      </dsp:txXfrm>
    </dsp:sp>
    <dsp:sp modelId="{B1FA3A76-6BFB-6C4E-953E-517E5924C113}">
      <dsp:nvSpPr>
        <dsp:cNvPr id="0" name=""/>
        <dsp:cNvSpPr/>
      </dsp:nvSpPr>
      <dsp:spPr>
        <a:xfrm>
          <a:off x="0" y="609842"/>
          <a:ext cx="7988217" cy="5054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/>
            <a:t>Reducing severity is as important as reducing crash frequency. </a:t>
          </a:r>
          <a:endParaRPr lang="en-US" sz="1600" kern="1200" dirty="0"/>
        </a:p>
      </dsp:txBody>
      <dsp:txXfrm>
        <a:off x="24674" y="634516"/>
        <a:ext cx="7938869" cy="456092"/>
      </dsp:txXfrm>
    </dsp:sp>
    <dsp:sp modelId="{EC6328B9-60F8-DE40-80B7-34AD5BE61B45}">
      <dsp:nvSpPr>
        <dsp:cNvPr id="0" name=""/>
        <dsp:cNvSpPr/>
      </dsp:nvSpPr>
      <dsp:spPr>
        <a:xfrm>
          <a:off x="0" y="1193042"/>
          <a:ext cx="7988217" cy="5054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Weather and road design may significantly affect outcomes. </a:t>
          </a:r>
          <a:endParaRPr lang="en-US" sz="1600" kern="1200"/>
        </a:p>
      </dsp:txBody>
      <dsp:txXfrm>
        <a:off x="24674" y="1217716"/>
        <a:ext cx="7938869" cy="456092"/>
      </dsp:txXfrm>
    </dsp:sp>
    <dsp:sp modelId="{A3E74AC4-EDBC-5E41-90F8-E01D9AD51736}">
      <dsp:nvSpPr>
        <dsp:cNvPr id="0" name=""/>
        <dsp:cNvSpPr/>
      </dsp:nvSpPr>
      <dsp:spPr>
        <a:xfrm>
          <a:off x="0" y="1776242"/>
          <a:ext cx="7988217" cy="5054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These findings can inform policy, infrastructure, and emergency response.</a:t>
          </a:r>
          <a:endParaRPr lang="en-US" sz="1600" kern="1200"/>
        </a:p>
      </dsp:txBody>
      <dsp:txXfrm>
        <a:off x="24674" y="1800916"/>
        <a:ext cx="7938869" cy="4560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0334A9-EA0A-3248-8881-60209B5D7FFA}">
      <dsp:nvSpPr>
        <dsp:cNvPr id="0" name=""/>
        <dsp:cNvSpPr/>
      </dsp:nvSpPr>
      <dsp:spPr>
        <a:xfrm>
          <a:off x="0" y="0"/>
          <a:ext cx="34420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1E600F-FA20-CB41-9CCA-FCF2CC237300}">
      <dsp:nvSpPr>
        <dsp:cNvPr id="0" name=""/>
        <dsp:cNvSpPr/>
      </dsp:nvSpPr>
      <dsp:spPr>
        <a:xfrm>
          <a:off x="0" y="0"/>
          <a:ext cx="3442070" cy="392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Outcomes</a:t>
          </a:r>
          <a:endParaRPr lang="en-US" sz="1600" kern="1200"/>
        </a:p>
      </dsp:txBody>
      <dsp:txXfrm>
        <a:off x="0" y="0"/>
        <a:ext cx="3442070" cy="392414"/>
      </dsp:txXfrm>
    </dsp:sp>
    <dsp:sp modelId="{8CE1E853-62DF-A741-AF17-68E58252D044}">
      <dsp:nvSpPr>
        <dsp:cNvPr id="0" name=""/>
        <dsp:cNvSpPr/>
      </dsp:nvSpPr>
      <dsp:spPr>
        <a:xfrm>
          <a:off x="0" y="392414"/>
          <a:ext cx="34420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1E6E43-6BC8-DC4F-80A8-2EC6E536592C}">
      <dsp:nvSpPr>
        <dsp:cNvPr id="0" name=""/>
        <dsp:cNvSpPr/>
      </dsp:nvSpPr>
      <dsp:spPr>
        <a:xfrm>
          <a:off x="0" y="392414"/>
          <a:ext cx="3442070" cy="392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Severity (1–4) </a:t>
          </a:r>
        </a:p>
      </dsp:txBody>
      <dsp:txXfrm>
        <a:off x="0" y="392414"/>
        <a:ext cx="3442070" cy="392414"/>
      </dsp:txXfrm>
    </dsp:sp>
    <dsp:sp modelId="{FA115207-E1AF-B04F-9AA2-3ED45CD0D986}">
      <dsp:nvSpPr>
        <dsp:cNvPr id="0" name=""/>
        <dsp:cNvSpPr/>
      </dsp:nvSpPr>
      <dsp:spPr>
        <a:xfrm>
          <a:off x="0" y="784829"/>
          <a:ext cx="34420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92894D-0A91-0741-8FBD-50D556571798}">
      <dsp:nvSpPr>
        <dsp:cNvPr id="0" name=""/>
        <dsp:cNvSpPr/>
      </dsp:nvSpPr>
      <dsp:spPr>
        <a:xfrm>
          <a:off x="0" y="784829"/>
          <a:ext cx="3442070" cy="392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HighSeverity = 1 if Severity ≥ 3 </a:t>
          </a:r>
        </a:p>
      </dsp:txBody>
      <dsp:txXfrm>
        <a:off x="0" y="784829"/>
        <a:ext cx="3442070" cy="392414"/>
      </dsp:txXfrm>
    </dsp:sp>
    <dsp:sp modelId="{32340226-1129-6C41-A995-540E045E3898}">
      <dsp:nvSpPr>
        <dsp:cNvPr id="0" name=""/>
        <dsp:cNvSpPr/>
      </dsp:nvSpPr>
      <dsp:spPr>
        <a:xfrm>
          <a:off x="0" y="1177244"/>
          <a:ext cx="34420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84EA77-1156-6D49-9584-27BE31C105F2}">
      <dsp:nvSpPr>
        <dsp:cNvPr id="0" name=""/>
        <dsp:cNvSpPr/>
      </dsp:nvSpPr>
      <dsp:spPr>
        <a:xfrm>
          <a:off x="0" y="1177244"/>
          <a:ext cx="3442070" cy="392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Severe4 = 1 if Severity = 4 </a:t>
          </a:r>
        </a:p>
      </dsp:txBody>
      <dsp:txXfrm>
        <a:off x="0" y="1177244"/>
        <a:ext cx="3442070" cy="3924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34100-366C-CF2C-A869-F1BA76408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C457AC-09A9-EF6B-E989-15FFFE9DDB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B0E17-BB69-BD8F-9E0A-0EE4C8C17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18E53-D15F-C042-8F32-DD855F628DA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FA9B7-0260-98AD-B471-B31E3B753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7ECDC-1A22-83C9-7D9F-71F7F92C8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D7505-A0A0-974C-9F39-094131927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41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AB0AF-917A-8E2E-EEB7-C2E1669FA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8EED3-225C-6A6D-FF04-281567DDA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BBB6E-C6A3-8198-01D9-FE0A4EEFE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18E53-D15F-C042-8F32-DD855F628DA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FEB27-DC99-E13B-FD9A-7F7947445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F7422-CF5D-40D3-6C30-D2C71E194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D7505-A0A0-974C-9F39-094131927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676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DBE9C-614B-8145-B11E-61038A242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13CFB-BC6B-4A5C-B50A-F28B6C8E7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7958A-9E21-B543-4ECD-7B8643DE0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18E53-D15F-C042-8F32-DD855F628DA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6760B-0E26-1ED8-08F3-9A0D548D3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BB2E5-FBBD-A7E1-D222-BF6EAA89E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D7505-A0A0-974C-9F39-094131927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683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83414-E50A-EBC5-691C-408F093A6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F4D12-CC5B-973D-8ED9-FFDF41E87D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E7D5B-E97C-DC80-6DF6-7506F4348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9E83EC-F0A5-4B1B-E91A-4D99AA4A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18E53-D15F-C042-8F32-DD855F628DA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0C21A-CC52-239A-1E73-6250C1A6C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E211C9-0F3C-DF08-95CF-2E55AE7A1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D7505-A0A0-974C-9F39-094131927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375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15D6E-7B93-034D-9605-4EBE42F57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810E1-6F82-1C8E-1DD8-4D89E1681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FFFC01-F721-9E0A-32E4-4B34711B97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32C1BC-93E3-3467-D556-4848502C9F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01AE02-4ADD-DD23-08CA-5BBE746E7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059C64-8967-502B-8FFE-5E1AB8FDE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18E53-D15F-C042-8F32-DD855F628DA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E2AF7C-1109-AFB8-1D67-3A306F7D5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8DF9CC-DDBC-29B0-298E-5682164A8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D7505-A0A0-974C-9F39-094131927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365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10FF4-3A13-53F5-D320-B02266744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A0230E-5E0C-37C6-D886-D76ECC716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18E53-D15F-C042-8F32-DD855F628DA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08E0F6-0EDB-9C9E-B197-604DCC9EE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50F94C-4412-E4EF-EC3B-FA5735664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D7505-A0A0-974C-9F39-094131927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292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B83CEB-0E12-8A1B-5A8C-A44B78ABC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18E53-D15F-C042-8F32-DD855F628DA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43F2F5-579F-928A-41AF-1D4CDD208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A6877-5FD5-C8C9-92DD-CA27B05E2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D7505-A0A0-974C-9F39-094131927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253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BFFC2-63CB-46F0-2184-377CA0768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5020D-C1C8-D8FB-50B9-628C9B626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554203-F0B8-5370-40E2-D0C07D717F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AAF5AD-59EE-DF04-4D49-84ABDE120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18E53-D15F-C042-8F32-DD855F628DA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DD9C5-EBB0-1BD2-89D1-449E7B735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7AFB6-4243-BEA5-71EF-033C1BB0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D7505-A0A0-974C-9F39-094131927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14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6B30E-649B-A36F-84D6-7ADFD5A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4D8B7F-38CD-F7FD-9651-CC1F7BB91B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B2F1CA-8A3C-D06B-4D40-974DD3812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8B5F-1340-4554-9D89-E844077A8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18E53-D15F-C042-8F32-DD855F628DA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62C753-BED7-DD77-C6D4-A6E37698A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A7609-0F39-68AC-529A-4E0E1993C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D7505-A0A0-974C-9F39-094131927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95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E3CA1-F9BE-CDF3-7042-81C45CFEA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CA0D1A-F163-CE83-3480-547E6A513A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8EC17-2F5D-615A-38D1-E9A7A1837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18E53-D15F-C042-8F32-DD855F628DA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6FB5A-D08D-69FE-C815-E34E49382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C5A56-34FA-0595-ADB3-7F9CC6E6E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D7505-A0A0-974C-9F39-094131927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45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1DB6D3-1737-DC12-A6E8-6F7847025E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814E25-9816-DBCB-D9B6-25DA7F4E4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06D3C-4F8B-5898-709E-FACC20372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18E53-D15F-C042-8F32-DD855F628DA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A488D-A5DC-4ABC-B74B-5A00CF915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195DC-2A69-1254-6354-E9DDFBD22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D7505-A0A0-974C-9F39-094131927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715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FAF31A-048F-2A55-79CC-FC712BCAD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23D41-69E9-5A29-5D24-32C50DEF8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9AA53-2E9C-8E4F-99FE-B6A587487A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818E53-D15F-C042-8F32-DD855F628DA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E152C-8A39-3ED9-D20B-F1615BA3C3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A1562-EF09-B440-58B8-1CD3EE9820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2D7505-A0A0-974C-9F39-094131927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715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382F7-7446-963C-0333-3DA3E950C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43" y="332259"/>
            <a:ext cx="6584595" cy="417364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r>
              <a:rPr lang="en-US" sz="3200" dirty="0"/>
              <a:t>Road Safety and Accident Severity in the United States: </a:t>
            </a:r>
            <a:br>
              <a:rPr lang="en-US" sz="3200" dirty="0"/>
            </a:br>
            <a:r>
              <a:rPr lang="en-US" sz="3200" dirty="0"/>
              <a:t>A Case Study of Texas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6C4B1C-B7BA-32DF-0128-852CDA4C6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0371" y="4505900"/>
            <a:ext cx="3833383" cy="197577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l"/>
            <a:r>
              <a:rPr lang="en-US" sz="1600" dirty="0"/>
              <a:t>ECON 5140: Applied Econometrics</a:t>
            </a:r>
          </a:p>
          <a:p>
            <a:pPr algn="l"/>
            <a:r>
              <a:rPr lang="en-US" sz="1600" dirty="0"/>
              <a:t>Artykzhan Ospan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41835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C0655-6322-A04B-30CD-605C27BFD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408" y="189691"/>
            <a:ext cx="4899866" cy="368704"/>
          </a:xfrm>
        </p:spPr>
        <p:txBody>
          <a:bodyPr anchor="t">
            <a:normAutofit fontScale="90000"/>
          </a:bodyPr>
          <a:lstStyle/>
          <a:p>
            <a:pPr marL="457200" indent="-457200" algn="l">
              <a:buFont typeface="Wingdings" pitchFamily="2" charset="2"/>
              <a:buChar char="q"/>
            </a:pPr>
            <a:r>
              <a:rPr lang="en-US" sz="2400" dirty="0">
                <a:solidFill>
                  <a:schemeClr val="tx2"/>
                </a:solidFill>
              </a:rPr>
              <a:t> Motivation and Research Question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7696615-2254-68AE-40F8-383C105B98CC}"/>
              </a:ext>
            </a:extLst>
          </p:cNvPr>
          <p:cNvSpPr txBox="1">
            <a:spLocks/>
          </p:cNvSpPr>
          <p:nvPr/>
        </p:nvSpPr>
        <p:spPr>
          <a:xfrm>
            <a:off x="2327748" y="1712760"/>
            <a:ext cx="8099133" cy="11539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1800" dirty="0"/>
              <a:t>Which weather and roadway factors are associated with higher crash severity in Texas?</a:t>
            </a:r>
            <a:endParaRPr lang="en-US" sz="1800" dirty="0">
              <a:solidFill>
                <a:schemeClr val="tx2"/>
              </a:solidFill>
            </a:endParaRP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B95D0A13-1FFB-8B5F-EF6A-454B520530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1191971"/>
              </p:ext>
            </p:extLst>
          </p:nvPr>
        </p:nvGraphicFramePr>
        <p:xfrm>
          <a:off x="2327748" y="3616708"/>
          <a:ext cx="7988217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8815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4933B-CDD7-7ED3-1434-0E42277D7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44" y="267589"/>
            <a:ext cx="2307336" cy="646811"/>
          </a:xfrm>
        </p:spPr>
        <p:txBody>
          <a:bodyPr>
            <a:norm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400" dirty="0"/>
              <a:t>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9BAC8-3996-88B1-DD6E-ACDF96E3F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744" y="1435480"/>
            <a:ext cx="10597896" cy="44898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Is This Causal?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No direct causal claim is made. </a:t>
            </a:r>
          </a:p>
          <a:p>
            <a:r>
              <a:rPr lang="en-US" sz="2000" dirty="0"/>
              <a:t>Weather and nighttime conditions are not randomly assigned. </a:t>
            </a:r>
          </a:p>
          <a:p>
            <a:r>
              <a:rPr lang="en-US" sz="2000" dirty="0"/>
              <a:t>Results are interpreted as conditional associations after controlling for observed factors. 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>
              <a:buFont typeface="Wingdings" pitchFamily="2" charset="2"/>
              <a:buChar char="ü"/>
            </a:pPr>
            <a:r>
              <a:rPr lang="en-US" sz="2000" dirty="0"/>
              <a:t> Several models are used to evaluate severity outcomes in different ways. Comparing results across models helps assess reliability.</a:t>
            </a:r>
          </a:p>
        </p:txBody>
      </p:sp>
    </p:spTree>
    <p:extLst>
      <p:ext uri="{BB962C8B-B14F-4D97-AF65-F5344CB8AC3E}">
        <p14:creationId xmlns:p14="http://schemas.microsoft.com/office/powerpoint/2010/main" val="2698018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BBABE-205B-E2C9-04B9-FCFF46A8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5EC81-4662-151E-0F48-9B041426A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441" y="175331"/>
            <a:ext cx="1946797" cy="368704"/>
          </a:xfrm>
        </p:spPr>
        <p:txBody>
          <a:bodyPr anchor="t">
            <a:noAutofit/>
          </a:bodyPr>
          <a:lstStyle/>
          <a:p>
            <a:pPr marL="342900" indent="-342900" algn="l">
              <a:buFont typeface="Wingdings" pitchFamily="2" charset="2"/>
              <a:buChar char="q"/>
            </a:pPr>
            <a:r>
              <a:rPr lang="en-US" sz="2400" dirty="0">
                <a:solidFill>
                  <a:schemeClr val="tx2"/>
                </a:solidFill>
              </a:rPr>
              <a:t>  Overview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6D248BA-C02A-1970-7CD2-74CC0F33F6A2}"/>
              </a:ext>
            </a:extLst>
          </p:cNvPr>
          <p:cNvSpPr txBox="1">
            <a:spLocks/>
          </p:cNvSpPr>
          <p:nvPr/>
        </p:nvSpPr>
        <p:spPr>
          <a:xfrm>
            <a:off x="818438" y="1032977"/>
            <a:ext cx="3841697" cy="26660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1600" b="1" dirty="0"/>
              <a:t>Data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U.S. Accidents Dataset (2016–2023)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Texas case study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Original sample: 572,795 observations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Working sample: 20,000 observations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31ED698-B302-5238-3605-C2657BA73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6985" y="1390734"/>
            <a:ext cx="429657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OLS regression benchmark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Ordered Logit main model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</a:rPr>
              <a:t>Binary Logit for severe crash probability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</a:rPr>
              <a:t>Marginal effects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</a:rPr>
              <a:t>Robustness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Clustered standard errors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evaluation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6592C356-45E4-F3CB-2F72-5A0A4BA635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9555705"/>
              </p:ext>
            </p:extLst>
          </p:nvPr>
        </p:nvGraphicFramePr>
        <p:xfrm>
          <a:off x="1857043" y="4785438"/>
          <a:ext cx="3442070" cy="15696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7731E9A-D7D3-C1C8-5701-A457376AAF99}"/>
              </a:ext>
            </a:extLst>
          </p:cNvPr>
          <p:cNvSpPr txBox="1"/>
          <p:nvPr/>
        </p:nvSpPr>
        <p:spPr>
          <a:xfrm>
            <a:off x="6096000" y="4653236"/>
            <a:ext cx="53101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Explanatory Variables</a:t>
            </a:r>
          </a:p>
          <a:p>
            <a:pPr>
              <a:buNone/>
            </a:pPr>
            <a:endParaRPr lang="en-US" sz="1600" b="1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/>
              <a:t> Rain, Visibility, Temperature, Wind Speed, Night, Weekend, Rush Hour, Junction, Traffic Signal, Crossing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4D9C9ED-91C3-1510-A695-6C865C1FA782}"/>
              </a:ext>
            </a:extLst>
          </p:cNvPr>
          <p:cNvCxnSpPr>
            <a:cxnSpLocks/>
          </p:cNvCxnSpPr>
          <p:nvPr/>
        </p:nvCxnSpPr>
        <p:spPr>
          <a:xfrm>
            <a:off x="0" y="392200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4780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50000"/>
            <a:alpha val="4723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406F7-52C5-AA0E-7EBF-1652F2F80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26" y="274733"/>
            <a:ext cx="4411170" cy="315663"/>
          </a:xfrm>
        </p:spPr>
        <p:txBody>
          <a:bodyPr>
            <a:no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200" dirty="0"/>
              <a:t> Sample Statistics and Correlation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FC80A0-96DF-65B5-7685-E6FE551EB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27" y="1718631"/>
            <a:ext cx="3730591" cy="33425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83D2B9-8D20-2B7F-BE87-FF8EB9221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879" y="1718631"/>
            <a:ext cx="6378994" cy="487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850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50000"/>
            <a:alpha val="4685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B99B5D-58CE-BF87-B6D7-E67B211AB7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835" y="1233889"/>
            <a:ext cx="5604101" cy="41864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72E681-6708-00AA-D8CC-AF2244BA3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3118" y="3575435"/>
            <a:ext cx="5599512" cy="29684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BAB6B5-EF6C-FF3E-EDA4-0CBFB996A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118" y="249436"/>
            <a:ext cx="5599512" cy="295464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83620A1-F06D-5556-C83B-62C1EFC15E57}"/>
              </a:ext>
            </a:extLst>
          </p:cNvPr>
          <p:cNvSpPr txBox="1"/>
          <p:nvPr/>
        </p:nvSpPr>
        <p:spPr>
          <a:xfrm>
            <a:off x="213835" y="249436"/>
            <a:ext cx="3243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 Key Patterns</a:t>
            </a:r>
          </a:p>
        </p:txBody>
      </p:sp>
    </p:spTree>
    <p:extLst>
      <p:ext uri="{BB962C8B-B14F-4D97-AF65-F5344CB8AC3E}">
        <p14:creationId xmlns:p14="http://schemas.microsoft.com/office/powerpoint/2010/main" val="695284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50000"/>
            <a:alpha val="4715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F8CB925-1376-93E6-AD59-97E9C3250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54" y="972720"/>
            <a:ext cx="6037244" cy="49125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787FD0-C35B-EC49-8C3E-B9A8AF419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883" y="986973"/>
            <a:ext cx="5433763" cy="491255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E26F53E-3A54-E454-91E8-6FC5B9BCD5BE}"/>
              </a:ext>
            </a:extLst>
          </p:cNvPr>
          <p:cNvSpPr txBox="1"/>
          <p:nvPr/>
        </p:nvSpPr>
        <p:spPr>
          <a:xfrm>
            <a:off x="231354" y="184399"/>
            <a:ext cx="2511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 Key Patterns</a:t>
            </a:r>
          </a:p>
        </p:txBody>
      </p:sp>
    </p:spTree>
    <p:extLst>
      <p:ext uri="{BB962C8B-B14F-4D97-AF65-F5344CB8AC3E}">
        <p14:creationId xmlns:p14="http://schemas.microsoft.com/office/powerpoint/2010/main" val="4159187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50000"/>
            <a:alpha val="47126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716EF-9537-E2D4-105C-F0F525C83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94" y="82627"/>
            <a:ext cx="3532369" cy="436004"/>
          </a:xfrm>
        </p:spPr>
        <p:txBody>
          <a:bodyPr>
            <a:normAutofit/>
          </a:bodyPr>
          <a:lstStyle/>
          <a:p>
            <a:pPr marL="342900" indent="-342900" algn="l">
              <a:buFont typeface="Wingdings" pitchFamily="2" charset="2"/>
              <a:buChar char="q"/>
            </a:pPr>
            <a:r>
              <a:rPr lang="en-US" sz="1800" dirty="0"/>
              <a:t> OLS Benchmark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072640-BDB0-1401-534F-5F7773E9F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82" y="518631"/>
            <a:ext cx="5765998" cy="60694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74E1BD-1ED2-083C-BB40-43BA02799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960" y="518631"/>
            <a:ext cx="5475358" cy="549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34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50000"/>
            <a:alpha val="4685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1523E6-003F-29CA-7E82-5BDBE4543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55" y="1260666"/>
            <a:ext cx="5544679" cy="48647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9CEA3B-8B6D-4497-9D80-1FD027F81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475" y="1260667"/>
            <a:ext cx="6074170" cy="48647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11589A-C05C-64D3-70B3-5FC352636FC9}"/>
              </a:ext>
            </a:extLst>
          </p:cNvPr>
          <p:cNvSpPr txBox="1"/>
          <p:nvPr/>
        </p:nvSpPr>
        <p:spPr>
          <a:xfrm>
            <a:off x="160355" y="129314"/>
            <a:ext cx="2878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000" dirty="0"/>
              <a:t> Ordered Logit Model</a:t>
            </a:r>
          </a:p>
        </p:txBody>
      </p:sp>
    </p:spTree>
    <p:extLst>
      <p:ext uri="{BB962C8B-B14F-4D97-AF65-F5344CB8AC3E}">
        <p14:creationId xmlns:p14="http://schemas.microsoft.com/office/powerpoint/2010/main" val="1142056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  <a:alpha val="4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7BA0D-97AA-B7E1-0E04-0B30D0BB1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39" y="199873"/>
            <a:ext cx="2543978" cy="315912"/>
          </a:xfrm>
        </p:spPr>
        <p:txBody>
          <a:bodyPr>
            <a:no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000" dirty="0"/>
              <a:t> Binary Logit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E924A8-7E85-581A-5D69-E77811BDB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96" y="966653"/>
            <a:ext cx="5647294" cy="5019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50B257-820E-9892-261E-FD528C41B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66653"/>
            <a:ext cx="5937404" cy="4144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826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50000"/>
            <a:alpha val="4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AAAE3-DC07-5EF2-6850-C8A260A3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53" y="111738"/>
            <a:ext cx="2279574" cy="461140"/>
          </a:xfrm>
        </p:spPr>
        <p:txBody>
          <a:bodyPr>
            <a:norm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000" dirty="0"/>
              <a:t> Marginal Effects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A3E93E-CCEE-FE55-0B95-4DAB2D429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3" y="826265"/>
            <a:ext cx="5765961" cy="47950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98B8D0-B970-2260-170C-82DBAA08B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885" y="1133206"/>
            <a:ext cx="5765962" cy="419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978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50000"/>
            <a:alpha val="469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9C410-7930-DB03-3D59-C8BC5A4D3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86" y="133771"/>
            <a:ext cx="2863467" cy="315912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itchFamily="2" charset="2"/>
              <a:buChar char="q"/>
            </a:pPr>
            <a:r>
              <a:rPr lang="en-US" sz="2000" dirty="0"/>
              <a:t>Robustness Checks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9ECEE0-5AA1-E312-700A-1845955E1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89" y="881349"/>
            <a:ext cx="5701884" cy="32858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003D9A-B5A3-FBE9-55E2-B13738B75AF2}"/>
              </a:ext>
            </a:extLst>
          </p:cNvPr>
          <p:cNvSpPr txBox="1"/>
          <p:nvPr/>
        </p:nvSpPr>
        <p:spPr>
          <a:xfrm>
            <a:off x="1992145" y="573572"/>
            <a:ext cx="22635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7"/>
              </a:spcBef>
              <a:spcAft>
                <a:spcPts val="605"/>
              </a:spcAft>
              <a:buNone/>
            </a:pPr>
            <a:r>
              <a:rPr lang="en-US" sz="1400" b="0" i="0" dirty="0">
                <a:effectLst/>
              </a:rPr>
              <a:t>Rain and Night Interaction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93C0E4-B923-B92E-D09C-94392D30F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630" y="881349"/>
            <a:ext cx="5794870" cy="32858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73BA16-96EA-E7AB-CD5E-FC652E2CB9E0}"/>
              </a:ext>
            </a:extLst>
          </p:cNvPr>
          <p:cNvSpPr txBox="1"/>
          <p:nvPr/>
        </p:nvSpPr>
        <p:spPr>
          <a:xfrm>
            <a:off x="8171762" y="573572"/>
            <a:ext cx="22635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Extreme Severity Outcome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9AF5D99-8FCD-5822-1C42-CB82E423B869}"/>
              </a:ext>
            </a:extLst>
          </p:cNvPr>
          <p:cNvCxnSpPr>
            <a:cxnSpLocks/>
          </p:cNvCxnSpPr>
          <p:nvPr/>
        </p:nvCxnSpPr>
        <p:spPr>
          <a:xfrm>
            <a:off x="0" y="4354504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6FA9F55-41CF-D44D-FF37-6697EAEC8512}"/>
              </a:ext>
            </a:extLst>
          </p:cNvPr>
          <p:cNvSpPr txBox="1"/>
          <p:nvPr/>
        </p:nvSpPr>
        <p:spPr>
          <a:xfrm>
            <a:off x="226501" y="4598883"/>
            <a:ext cx="4134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   County-Clustered Standard Errors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184A2B5-E342-9E80-74D9-39806A8C9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3440" y="4474994"/>
            <a:ext cx="4534795" cy="2267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379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50000"/>
            <a:alpha val="47019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CFCEF-44B5-9A0D-D2C6-987C7FF7E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273" y="169183"/>
            <a:ext cx="2896518" cy="315912"/>
          </a:xfrm>
        </p:spPr>
        <p:txBody>
          <a:bodyPr>
            <a:noAutofit/>
          </a:bodyPr>
          <a:lstStyle/>
          <a:p>
            <a:pPr marL="571500" indent="-571500">
              <a:buFont typeface="Wingdings" pitchFamily="2" charset="2"/>
              <a:buChar char="q"/>
            </a:pPr>
            <a:r>
              <a:rPr lang="en-US" sz="2000" dirty="0"/>
              <a:t>Model Evaluation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7799A5-2275-297E-EE00-E5F059E74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59" y="485095"/>
            <a:ext cx="5625641" cy="25566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0BF3D3-F290-0215-908C-0F4D30E5A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366" y="485095"/>
            <a:ext cx="4673600" cy="25566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4FED63-042B-1357-B42A-2465E62CDF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988" y="3240077"/>
            <a:ext cx="8507241" cy="354659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574EBF-9A72-4B51-4E9A-63322C9F4976}"/>
              </a:ext>
            </a:extLst>
          </p:cNvPr>
          <p:cNvCxnSpPr>
            <a:cxnSpLocks/>
          </p:cNvCxnSpPr>
          <p:nvPr/>
        </p:nvCxnSpPr>
        <p:spPr>
          <a:xfrm>
            <a:off x="0" y="314092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108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50000"/>
            <a:alpha val="46766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5BCF9-E52F-9D6F-5F35-6A1904D01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38" y="155806"/>
            <a:ext cx="5320229" cy="339953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itchFamily="2" charset="2"/>
              <a:buChar char="q"/>
            </a:pPr>
            <a:r>
              <a:rPr lang="en-US" sz="2000" dirty="0"/>
              <a:t>National Comparison (from 200,000 samples)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0EED39-A246-8F01-9DFC-CFB8DC72C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38" y="495759"/>
            <a:ext cx="5464366" cy="34152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0FB653-2B96-F3A1-9DD4-A5583E37E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832" y="495759"/>
            <a:ext cx="5558930" cy="34152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C3A007-C5D6-D325-758E-58F8BB61F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3968" y="4076241"/>
            <a:ext cx="7429500" cy="262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224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E47B-D0E8-0F6A-3BCC-A2E846781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298" y="1601674"/>
            <a:ext cx="5847202" cy="1827326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r>
              <a:rPr lang="en-US" sz="1600" dirty="0"/>
              <a:t>Results reflect conditional associations, not causal effects.</a:t>
            </a:r>
          </a:p>
          <a:p>
            <a:r>
              <a:rPr lang="en-US" sz="1600" dirty="0"/>
              <a:t>Some factors such as driver behavior and speed are not observed. </a:t>
            </a:r>
          </a:p>
          <a:p>
            <a:r>
              <a:rPr lang="en-US" sz="1600" dirty="0"/>
              <a:t>Only reported crashes are included. </a:t>
            </a:r>
          </a:p>
          <a:p>
            <a:r>
              <a:rPr lang="en-US" sz="1600" dirty="0"/>
              <a:t>Texas results may differ from other states.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B521B70-A174-EA6B-C3AF-ED5759D60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8162" y="3827256"/>
            <a:ext cx="5967786" cy="230832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Rain, wind speed, and junctions are linked to higher crash severity.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Traffic signals and crossings are linked to lower severity.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Results are consistent across models.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Weather and road design matter for traffic safety.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F609C7D-E9F8-679F-0830-C62869CF6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835" y="166407"/>
            <a:ext cx="2945606" cy="835025"/>
          </a:xfrm>
        </p:spPr>
        <p:txBody>
          <a:bodyPr>
            <a:normAutofit/>
          </a:bodyPr>
          <a:lstStyle/>
          <a:p>
            <a:r>
              <a:rPr lang="en-US" sz="2400" dirty="0"/>
              <a:t>Limits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3467471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165460-D7FE-2FAD-01F0-F8A1D65D8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3211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</TotalTime>
  <Words>361</Words>
  <Application>Microsoft Macintosh PowerPoint</Application>
  <PresentationFormat>Widescreen</PresentationFormat>
  <Paragraphs>67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Courier New</vt:lpstr>
      <vt:lpstr>Wingdings</vt:lpstr>
      <vt:lpstr>Office Theme</vt:lpstr>
      <vt:lpstr>Road Safety and Accident Severity in the United States:  A Case Study of Texas</vt:lpstr>
      <vt:lpstr> Motivation and Research Question</vt:lpstr>
      <vt:lpstr> Identification</vt:lpstr>
      <vt:lpstr>  Overview</vt:lpstr>
      <vt:lpstr> Sample Statistics and Correlation</vt:lpstr>
      <vt:lpstr>PowerPoint Presentation</vt:lpstr>
      <vt:lpstr>PowerPoint Presentation</vt:lpstr>
      <vt:lpstr> OLS Benchmark Model</vt:lpstr>
      <vt:lpstr>PowerPoint Presentation</vt:lpstr>
      <vt:lpstr> Binary Logit Model</vt:lpstr>
      <vt:lpstr> Marginal Effects</vt:lpstr>
      <vt:lpstr>Robustness Checks</vt:lpstr>
      <vt:lpstr>Model Evaluation</vt:lpstr>
      <vt:lpstr>National Comparison (from 200,000 samples)</vt:lpstr>
      <vt:lpstr>Limits and 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Artykzhan Ospan</dc:creator>
  <cp:lastModifiedBy>Artykzhan Ospan</cp:lastModifiedBy>
  <cp:revision>88</cp:revision>
  <dcterms:created xsi:type="dcterms:W3CDTF">2026-04-23T19:31:12Z</dcterms:created>
  <dcterms:modified xsi:type="dcterms:W3CDTF">2026-04-23T21:39:07Z</dcterms:modified>
</cp:coreProperties>
</file>